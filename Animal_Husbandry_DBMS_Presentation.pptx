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14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media/image1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0E5C66-CB98-4A77-9FBA-EFF3E627C9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383BFBF-443F-4AF2-8555-2935E1581D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C790341-E8F0-459F-A0CF-9AD06122F7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CDA840E-3B68-42AE-9C86-DE2A37F811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4402DC8-BC7C-4DF6-BE95-45D7ED48FC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F8BCCD5-4B45-4271-81EE-6A7033E121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442620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1960" y="1322280"/>
            <a:ext cx="442620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3F24A7E-4DC1-48B0-A8E7-696173A354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B47FE3A3-10FF-45C2-9C39-EF76C34260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B6562EE9-B13D-45FA-8A44-353E6D8493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915DE92-294C-42A4-B3EB-F7486817E9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083DD34-431C-4B52-92EF-1157C8E3A1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50B7A45A-7DF4-4650-8BD5-DB328A080B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2CFE7D-80A0-41A7-A714-77A7CC8B21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11F3E94-A51A-4EE3-B116-088243C203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47DE7D-0CF9-4BE1-BF37-A531FE6177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DA4FD97-ADF7-4966-9FAE-FD7BFFE4368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8CC0F99-7F22-46A3-BD97-EBAD425FD0B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6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sldNum" idx="17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C53299-63C1-41F3-926E-7F2693787D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8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2280"/>
            <a:ext cx="442620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52320" y="1322280"/>
            <a:ext cx="4426200" cy="3740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9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20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6B8ADF-A579-42E6-AE99-9907A4DEF3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21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E390BF3-AB67-43F7-AD71-BE7685E509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5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6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A855495-32AA-44B4-8C76-CA81D1CABD7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7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534299-5D46-4EA5-97E0-8BCAC76D191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4D2EC09-8913-4058-AC89-641C6F86CE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ftr" idx="34"/>
          </p:nvPr>
        </p:nvSpPr>
        <p:spPr>
          <a:xfrm>
            <a:off x="3443760" y="5255280"/>
            <a:ext cx="319032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ldNum" idx="35"/>
          </p:nvPr>
        </p:nvSpPr>
        <p:spPr>
          <a:xfrm>
            <a:off x="722376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7C548B9-A0D1-495E-8134-FD255FE932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dt" idx="36"/>
          </p:nvPr>
        </p:nvSpPr>
        <p:spPr>
          <a:xfrm>
            <a:off x="504000" y="5255280"/>
            <a:ext cx="2350800" cy="30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2093760" y="-27720"/>
            <a:ext cx="5721840" cy="5668560"/>
          </a:xfrm>
          <a:prstGeom prst="rect">
            <a:avLst/>
          </a:prstGeom>
          <a:ln w="0">
            <a:noFill/>
          </a:ln>
        </p:spPr>
      </p:pic>
    </p:spTree>
  </p:cSld>
  <p:transition>
    <p:cover dir="u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/>
          <p:nvPr/>
        </p:nvSpPr>
        <p:spPr>
          <a:xfrm>
            <a:off x="649800" y="228600"/>
            <a:ext cx="9178920" cy="525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INSTITUTION: MBARARA UNIVERSITY OF SCIENCE AND TECHNOLOGY.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FACULTY: COMPUTING AND INFORMATICS.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PROGRAM: BACHELOR OF COMPUTER SCIENCE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COURSE UNIT: DATABASE SYSTEMS.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COURSE CODE: CSC 1204.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PROJECT TITLE: </a:t>
            </a:r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ANIMAL HUSBANDRY DATABASE MANAGEMENT SYSTEM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STUDENT NAME: AGONDEZE JOSHUA SAMUEL.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REG NO: 2025/BCS/010/PS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STUDENT NO: 2500602927      SUBMISSION DATE: 11/05/2026.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GROUP: 12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4EE368E-6695-4ADE-B69E-EF750DFC0E54}" type="slidenum">
              <a:t>2</a:t>
            </a:fld>
          </a:p>
        </p:txBody>
      </p:sp>
    </p:spTree>
  </p:cSld>
  <p:transition>
    <p:cover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Animal husbandry involves livestock care and management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Manual systems are inefficient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DBMS improves data handling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7C0ABE4-1D56-429A-8E91-A37B74290A42}" type="slidenum">
              <a:t>3</a:t>
            </a:fld>
          </a:p>
        </p:txBody>
      </p:sp>
    </p:spTree>
  </p:cSld>
  <p:transition>
    <p:cover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Problem Statement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Difficult to track animal records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Data redundancy and inconsistency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Poor decision-making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3C0BFFE-8BFF-41F5-84B3-AF96BA69A86B}" type="slidenum">
              <a:t>4</a:t>
            </a:fld>
          </a:p>
        </p:txBody>
      </p:sp>
    </p:spTree>
  </p:cSld>
  <p:transition>
    <p:cover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Objectives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Store livestock data efficiently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Track health and vaccination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Manage production and breeding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 reporting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BEC0ED5-A6E1-4E32-AF31-77D5FC4EE122}" type="slidenum">
              <a:t>5</a:t>
            </a:fld>
          </a:p>
        </p:txBody>
      </p:sp>
    </p:spTree>
  </p:cSld>
  <p:transition>
    <p:cover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System Overview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Centralized livestock database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Used by farmers and administrators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Includes tracking and monitoring features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1A7354A-0A67-446A-9BF6-24A3931CFF49}" type="slidenum">
              <a:t>6</a:t>
            </a:fld>
          </a:p>
        </p:txBody>
      </p:sp>
    </p:spTree>
  </p:cSld>
  <p:transition>
    <p:cover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Business Case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7200" y="1191600"/>
            <a:ext cx="9143280" cy="41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1" lang="en-US" sz="2100" spc="-1" strike="noStrike">
                <a:solidFill>
                  <a:srgbClr val="000000"/>
                </a:solidFill>
                <a:latin typeface="Arial"/>
              </a:rPr>
              <a:t>a. Application Domain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These are the operations supported by the project.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Animal Records Management : Registration of new animals, tracking breed, gender, DOB, and health status.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Shelter Management : Monitoring shelter capacity and animal allocation.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Feed Inventory Control : Recording feed types, stock levels, cost per unit.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Feeding Operations : Logging daily feeding activities per animal, quantity used, and employee responsible.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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Manager tasks : Managing employee data for herdsmen.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D827995-F904-4C67-8032-BAE10E9DF88F}" type="slidenum">
              <a:t>7</a:t>
            </a:fld>
          </a:p>
        </p:txBody>
      </p:sp>
    </p:spTree>
  </p:cSld>
  <p:transition>
    <p:cover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Database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Relational database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Uses MySQL/PostgreSQL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Tables with defined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028D365-0BA5-4375-8A7A-051423ED4FD5}" type="slidenum">
              <a:t>8</a:t>
            </a:fld>
          </a:p>
        </p:txBody>
      </p:sp>
    </p:spTree>
  </p:cSld>
  <p:transition>
    <p:cover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Entities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Animal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Feed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Employee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Shelter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Animal_feeding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94B22F8-53F3-4A86-A334-C065F2C4C0FC}" type="slidenum">
              <a:t>9</a:t>
            </a:fld>
          </a:p>
        </p:txBody>
      </p:sp>
    </p:spTree>
  </p:cSld>
  <p:transition>
    <p:cover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 rot="21589800">
            <a:off x="1851120" y="1181160"/>
            <a:ext cx="6951960" cy="4420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83EDA5-2C2C-4436-BCFF-7CC0C8B23944}" type="slidenum">
              <a:t>10</a:t>
            </a:fld>
          </a:p>
        </p:txBody>
      </p:sp>
    </p:spTree>
  </p:cSld>
  <p:transition>
    <p:cover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764360" y="1781640"/>
            <a:ext cx="6933960" cy="2342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B783B66-B8E2-4C03-A907-EC0FE6473F1B}" type="slidenum">
              <a:t>11</a:t>
            </a:fld>
          </a:p>
        </p:txBody>
      </p:sp>
    </p:spTree>
  </p:cSld>
  <p:transition>
    <p:cover dir="u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898920" y="1591920"/>
            <a:ext cx="8420040" cy="3142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3490E5D-BD47-420C-8A74-C5F2474A26D3}" type="slidenum">
              <a:t>12</a:t>
            </a:fld>
          </a:p>
        </p:txBody>
      </p:sp>
    </p:spTree>
  </p:cSld>
  <p:transition>
    <p:cover dir="u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2944800" y="2069280"/>
            <a:ext cx="5542920" cy="2408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7070157-1464-4529-82B3-F21357ABF94C}" type="slidenum">
              <a:t>13</a:t>
            </a:fld>
          </a:p>
        </p:txBody>
      </p:sp>
    </p:spTree>
  </p:cSld>
  <p:transition>
    <p:cover dir="u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2359440" y="2285280"/>
            <a:ext cx="5886000" cy="2066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6965C7-8CBD-40AC-B9FE-89FC1B2F2FF8}" type="slidenum">
              <a:t>14</a:t>
            </a:fld>
          </a:p>
        </p:txBody>
      </p:sp>
    </p:spTree>
  </p:cSld>
  <p:transition>
    <p:cover dir="u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1277640" y="1692000"/>
            <a:ext cx="5866920" cy="3580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4C3461F-935E-4108-8D5F-43221F324EB9}" type="slidenum">
              <a:t>15</a:t>
            </a:fld>
          </a:p>
        </p:txBody>
      </p:sp>
    </p:spTree>
  </p:cSld>
  <p:transition>
    <p:cover dir="u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1641960" y="2174400"/>
            <a:ext cx="7095960" cy="16754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910CC6-A309-4520-BAA2-CF267D0F3749}" type="slidenum">
              <a:t>16</a:t>
            </a:fld>
          </a:p>
        </p:txBody>
      </p:sp>
    </p:spTree>
  </p:cSld>
  <p:transition>
    <p:cover dir="u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75000">
              <a:srgbClr val="dddddd"/>
            </a:gs>
            <a:gs pos="100000">
              <a:srgbClr val="eeeee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1256040" y="2208960"/>
            <a:ext cx="7877880" cy="2590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F55E319-D330-4FD4-B9D2-C92FF64F8A7B}" type="slidenum">
              <a:t>17</a:t>
            </a:fld>
          </a:p>
        </p:txBody>
      </p:sp>
    </p:spTree>
  </p:cSld>
  <p:transition>
    <p:cover dir="u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2176560" y="2176560"/>
            <a:ext cx="5743080" cy="1980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DB99DD-5010-493F-BCCB-71E1E494C395}" type="slidenum">
              <a:t>18</a:t>
            </a:fld>
          </a:p>
        </p:txBody>
      </p:sp>
    </p:spTree>
  </p:cSld>
  <p:transition>
    <p:cover dir="u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371600" y="1884240"/>
            <a:ext cx="7314480" cy="2890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27C5E1B-B516-4295-9444-4D4D41097158}" type="slidenum">
              <a:t>19</a:t>
            </a:fld>
          </a:p>
        </p:txBody>
      </p:sp>
    </p:spTree>
  </p:cSld>
  <p:transition>
    <p:cover dir="u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1965960" y="1965240"/>
            <a:ext cx="6276600" cy="28850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93742AC-7FA3-452F-91B5-C7E645237D72}" type="slidenum">
              <a:t>20</a:t>
            </a:fld>
          </a:p>
        </p:txBody>
      </p:sp>
    </p:spTree>
  </p:cSld>
  <p:transition>
    <p:cover dir="u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1991520" y="2012400"/>
            <a:ext cx="6248160" cy="23612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EAEBC4B-15E6-4BAB-B6DF-0EF1FBA12768}" type="slidenum">
              <a:t>21</a:t>
            </a:fld>
          </a:p>
        </p:txBody>
      </p:sp>
    </p:spTree>
  </p:cSld>
  <p:transition>
    <p:cover dir="u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" descr=""/>
          <p:cNvPicPr/>
          <p:nvPr/>
        </p:nvPicPr>
        <p:blipFill>
          <a:blip r:embed="rId1"/>
          <a:stretch/>
        </p:blipFill>
        <p:spPr>
          <a:xfrm>
            <a:off x="84240" y="228600"/>
            <a:ext cx="8144640" cy="5441400"/>
          </a:xfrm>
          <a:prstGeom prst="rect">
            <a:avLst/>
          </a:prstGeom>
          <a:ln w="0">
            <a:noFill/>
          </a:ln>
        </p:spPr>
      </p:pic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28600" y="-25848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dk1"/>
                </a:solidFill>
                <a:latin typeface="Calibri"/>
              </a:rPr>
              <a:t>ER Diagram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BFD7617-F78D-49B1-9891-450275C6F8E5}" type="slidenum">
              <a:t>22</a:t>
            </a:fld>
          </a:p>
        </p:txBody>
      </p:sp>
    </p:spTree>
  </p:cSld>
  <p:transition>
    <p:cover dir="u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Tables &amp; Schema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Animal (animal_id, breed, age, farmer_id)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Farmer (farmer_id, name, location)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Health (record_id, animal_id, vaccination, date)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Production (prod_id, animal_id, milk_output)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1D97756-3259-49C6-B67F-68BD58209065}" type="slidenum">
              <a:t>23</a:t>
            </a:fld>
          </a:p>
        </p:txBody>
      </p:sp>
    </p:spTree>
  </p:cSld>
  <p:transition>
    <p:cover dir="u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Normalization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1NF, 2NF, 3NF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Removes redundancy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Improves consistency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02ECD9F-93C7-4825-9F3B-5577C2A6AF41}" type="slidenum">
              <a:t>24</a:t>
            </a:fld>
          </a:p>
        </p:txBody>
      </p:sp>
    </p:spTree>
  </p:cSld>
  <p:transition>
    <p:cover dir="u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Queries &amp; Operations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Insert, Update, Retrieve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Example: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SELECT * FROM Animal;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SELECT * FROM animalfeeding;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864000" indent="0" defTabSz="457200">
              <a:lnSpc>
                <a:spcPct val="10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64D45F3-2545-43F6-88DC-57875110AEF5}" type="slidenum">
              <a:t>25</a:t>
            </a:fld>
          </a:p>
        </p:txBody>
      </p:sp>
    </p:spTree>
  </p:cSld>
  <p:transition>
    <p:cover dir="u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Implementation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Tools: XAMPP, phpMyAdmin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Languages: Java, PHP, Python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Connected to UI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155D002-67A9-40B9-B4D3-17CDFFA1EE4C}" type="slidenum">
              <a:t>26</a:t>
            </a:fld>
          </a:p>
        </p:txBody>
      </p:sp>
    </p:spTree>
  </p:cSld>
  <p:transition>
    <p:cover dir="u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264960" y="421200"/>
            <a:ext cx="9659160" cy="494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</a:rPr>
              <a:t>Logical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i="1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en-US" sz="3200" spc="-1" strike="noStrike">
                <a:solidFill>
                  <a:srgbClr val="000000"/>
                </a:solidFill>
                <a:latin typeface="Arial"/>
              </a:rPr>
              <a:t>Entities and Attributes: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Animal: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animal_id, species, breed, gender, dateofbirth, health_status, shelter_id, employee_id.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Feed: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feed_id, feed_name, feed_type, quantity.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Employee: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employeeid, firstname, lastname, role, phone, employmentdate.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Shelter: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shelter_id, shelter_name, location, capacity, sheltertype.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2600" spc="-1" strike="noStrike">
                <a:solidFill>
                  <a:srgbClr val="000000"/>
                </a:solidFill>
                <a:latin typeface="Arial"/>
              </a:rPr>
              <a:t>Animal_feeding: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feeding_id, animal_id, feed_id, emp_id, feeding_date, quantity_kg, notes.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4A2C585-DDCD-4A19-BC1E-91137EFA7E3F}" type="slidenum">
              <a:t>27</a:t>
            </a:fld>
          </a:p>
        </p:txBody>
      </p:sp>
    </p:spTree>
  </p:cSld>
  <p:transition>
    <p:cover dir="u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Arial"/>
              </a:rPr>
              <a:t>Limitations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533520" y="1171080"/>
            <a:ext cx="9066960" cy="43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Limited access for non-digital users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There is dependence on user inputs.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Language barrier.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There is biased feedback from the community.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Database design based on the requirements.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D5C5F29-C261-4285-B725-09891AADE613}" type="slidenum">
              <a:t>28</a:t>
            </a:fld>
          </a:p>
        </p:txBody>
      </p:sp>
    </p:spTree>
  </p:cSld>
  <p:transition>
    <p:cover dir="u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Challenges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Designing relationships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Handling large data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Ensuring accuracy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AFC5DC5-DA22-4C3F-9E8C-7BCA3BB5AB0B}" type="slidenum">
              <a:t>29</a:t>
            </a:fld>
          </a:p>
        </p:txBody>
      </p:sp>
    </p:spTree>
  </p:cSld>
  <p:transition>
    <p:cover dir="u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User issues about the system.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1303920" y="1024200"/>
            <a:ext cx="756396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There is need for basic computer skills. A phpMyAdmin GUI is used.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There is resistance to change from paper work. A demonstration can be made for a week or a month for them to realize the resources saved.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50000"/>
              </a:lnSpc>
              <a:buClr>
                <a:srgbClr val="000000"/>
              </a:buClr>
              <a:buSzPct val="45000"/>
              <a:buFont typeface="Wingdings" charset="2"/>
              <a:buChar char="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Users may not mind about auditing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DE64BC-22A9-47C5-AA32-CBB95F7999B0}" type="slidenum">
              <a:t>30</a:t>
            </a:fld>
          </a:p>
        </p:txBody>
      </p:sp>
    </p:spTree>
  </p:cSld>
  <p:transition>
    <p:cover dir="u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4000" y="47844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00"/>
                </a:solidFill>
                <a:latin typeface="Arial"/>
              </a:rPr>
              <a:t>Risks that are involved with the system.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42640" y="1371600"/>
            <a:ext cx="8999640" cy="38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 •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Data breaching or unauthorized access.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 •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Incorrect or inaccurate feedback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    •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Technical failures like maintenance of the machines for example laptops and phones.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BB7B0FF-F4C6-418B-9A93-4B7279C1F4D5}" type="slidenum">
              <a:t>31</a:t>
            </a:fld>
          </a:p>
        </p:txBody>
      </p:sp>
    </p:spTree>
  </p:cSld>
  <p:transition>
    <p:cover dir="u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Results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Better organization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Faster retrieval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Improved decisions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D909A6B-6526-40D3-A254-1EEB3EF84129}" type="slidenum">
              <a:t>32</a:t>
            </a:fld>
          </a:p>
        </p:txBody>
      </p:sp>
    </p:spTree>
  </p:cSld>
  <p:transition>
    <p:cover dir="u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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DBMS improves efficiency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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Reduces redundancy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Wingdings" charset="2"/>
              <a:buChar char="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Supports modern farming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8EEF9FC-6199-4789-B280-693B8EFFCEBC}" type="slidenum">
              <a:t>33</a:t>
            </a:fld>
          </a:p>
        </p:txBody>
      </p:sp>
    </p:spTree>
  </p:cSld>
  <p:transition>
    <p:cover dir="u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Recommendations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504000" y="1322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Add mobile access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Use IoT sensors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Include financial tracking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17527A0-BBF0-4812-9E65-A7E8FFCD92CE}" type="slidenum">
              <a:t>34</a:t>
            </a:fld>
          </a:p>
        </p:txBody>
      </p:sp>
    </p:spTree>
  </p:cSld>
  <p:transition>
    <p:cover dir="u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800"/>
            <a:ext cx="907056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References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504000" y="1250280"/>
            <a:ext cx="9070560" cy="3740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Books, tutorials, lecture notes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4667B22-175A-4F59-BE28-63DB6CC4F99F}" type="slidenum">
              <a:t>35</a:t>
            </a:fld>
          </a:p>
        </p:txBody>
      </p:sp>
    </p:spTree>
  </p:cSld>
  <p:transition>
    <p:cover dir="u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2026-05-14T01:38:51Z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